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mentors and panel members. Today I will present FinDoc-AuditEngine v3.0, our working prototype for Accounts Payable 3-way reconciliation, regex privacy masking, and explainable anomaly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Static ERP rules catch exact price/quantity mismatches but miss unusual multi-feature combinations when a PO matches an invoice. Conversely, standalone LLMs struggle with exact floating-point math.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POST /api/v1/audit/evaluate request flows through four modular Python services instrumented with per-stage microsecond timing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1 masks six configured regex PII patterns into indexed surrogates, while Stage 2 compares every invoice line item against its PO contract rate and dock GRN.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200-tree IsolationForest is trained on a seeded synthetic baseline of 1,000 records to demonstrate anomaly scoring, paired with single-feature perturbation attribution.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Scenario 1 of our live demo, we audit INV-1001 ($432.00). All SKU prices and dock quantities match PO-2026-001, the risk indicator is low (18.2/100), and it routes to Tier 1 Auto-Approval.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Scenario 2 demonstrates deterministic rule enforcement: Precision Tooling Works bills $550/unit against a $450 PO rate AND bills for 10 units when 2 were rejected at the dock.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Scenario 3 shows why Stage 3 IsolationForest is essential: INV-1005 matches PO-2026-005 on price and quantity ($0 variance), but combines an offshore tax haven (KY), Net-1 urgency, and a $49,500 lump 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workbench, editing any SKU rate or GRN rejected count dynamically recomputes 3-way variances and perturbation bars via collectLineItemsFromDOM().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Running python -m pytest tests -q executes 28 tests in Day 29 and 33 tests in Day 30. All collected functional, mathematical, and API tests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four most important engineering challenges we resolved while building and polishing FinDoc-AuditEngine v3.0.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conclude, we clearly distinguish what our local prototype implements today from the persistence, calibration, OCR, and security controls planned in our 90-day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2E8F0"/>
                </a:solidFill>
                <a:latin typeface="Calibri"/>
              </a:defRPr>
            </a:pPr>
            <a:r>
              <a:t>SLIDE 1 OF 12   |   1 MIN • EXECUTIVE OVERVIEW   |   TIMING: 00:00 – 00:45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i="1">
                <a:solidFill>
                  <a:srgbClr val="93C5FD"/>
                </a:solidFill>
                <a:latin typeface="Calibri"/>
              </a:defRPr>
            </a:pPr>
            <a:r>
              <a:t>FinDoc-AuditEngine v3.0  •  Shri Sanjaykumar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30352"/>
            <a:ext cx="11338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FinDoc-AuditEngine v3.0 — Financial Reconciliation &amp; Explainable ML Prototype</a:t>
            </a:r>
          </a:p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Linkific AI/ML Engineering Internship Capstone  •  Shri Sanjaykumar V (M.Tech Integrated SWE, VIT Vellore)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199632"/>
            <a:ext cx="11365992" cy="4937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i="1">
                <a:solidFill>
                  <a:srgbClr val="17365D"/>
                </a:solidFill>
                <a:latin typeface="Calibri"/>
              </a:defRPr>
            </a:pPr>
            <a:r>
              <a:t>Speaker Cue: Welcome mentors and panel members. Today I will present FinDoc-AuditEngine v3.0, our working prototype for Accounts Payable 3-way reconciliation, regex privacy masking, and explainable anomaly scoring.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53312"/>
            <a:ext cx="11365992" cy="3246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36192"/>
            <a:ext cx="69494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Calibri"/>
              </a:defRPr>
            </a:pPr>
            <a:r>
              <a:t>WORKING PROTOTYPE &amp; REFERENCE IMPLEMENTATION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Bridging Deterministic 3-Way Accounting Rules with Unsupervised 7-Feature Anomaly Scoring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 Inspired by real procurement experience managing INR 60+ Lakhs in sponsorships &amp; POs at VIT Riviera &amp; Gravitas.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 Enforces SKU-level Invoice–PO–GRN arithmetic ($0.01 rate &amp; $0.05 subtotal tolerance) alongside a 200-tree IsolationForest.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•  Includes pre-inference regex PII masking (6 patterns) and single-feature perturbation risk attribution.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572768"/>
            <a:ext cx="3611880" cy="27889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69164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  <a:latin typeface="Calibri"/>
              </a:defRPr>
            </a:pPr>
            <a:r>
              <a:t>PRESENTER &amp; VERIFICATION PROFILE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Candidate: Shri Sanjaykumar V</a:t>
            </a:r>
          </a:p>
          <a:p>
            <a:pPr>
              <a:spcBef>
                <a:spcPts val="300"/>
              </a:spcBef>
              <a:defRPr sz="1100" b="0">
                <a:solidFill>
                  <a:srgbClr val="FFFFFF"/>
                </a:solidFill>
                <a:latin typeface="Calibri"/>
              </a:defRPr>
            </a:pPr>
            <a:r>
              <a:t>Degree: M.Tech Int. SWE, VIT Vellore</a:t>
            </a:r>
          </a:p>
          <a:p>
            <a:pPr>
              <a:spcBef>
                <a:spcPts val="300"/>
              </a:spcBef>
              <a:defRPr sz="1100" b="0">
                <a:solidFill>
                  <a:srgbClr val="FFFFFF"/>
                </a:solidFill>
                <a:latin typeface="Calibri"/>
              </a:defRPr>
            </a:pPr>
            <a:r>
              <a:t>CGPA: 9.12 / 10.0</a:t>
            </a:r>
          </a:p>
          <a:p>
            <a:pPr>
              <a:spcBef>
                <a:spcPts val="300"/>
              </a:spcBef>
              <a:defRPr sz="1100" b="0">
                <a:solidFill>
                  <a:srgbClr val="FFFFFF"/>
                </a:solidFill>
                <a:latin typeface="Calibri"/>
              </a:defRPr>
            </a:pPr>
            <a:r>
              <a:t>Organization: Linkific (AI/ML Intern)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Day 29 PyTests: 28 passed (100% pass)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Day 30 PyTests: 33 passed (100% pass)</a:t>
            </a:r>
          </a:p>
          <a:p>
            <a:pPr>
              <a:spcBef>
                <a:spcPts val="300"/>
              </a:spcBef>
              <a:defRPr sz="1100" b="0">
                <a:solidFill>
                  <a:srgbClr val="FFFFFF"/>
                </a:solidFill>
                <a:latin typeface="Calibri"/>
              </a:defRPr>
            </a:pPr>
            <a:r>
              <a:t>Currency Standard: 1 USD = 86.50 INR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828032"/>
            <a:ext cx="2697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4828032"/>
            <a:ext cx="26974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" y="4937760"/>
            <a:ext cx="2441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STAGE 1 PRIVACY GATE</a:t>
            </a:r>
          </a:p>
          <a:p>
            <a:pPr>
              <a:defRPr sz="1650" b="1">
                <a:solidFill>
                  <a:srgbClr val="2563EB"/>
                </a:solidFill>
                <a:latin typeface="Calibri"/>
              </a:defRPr>
            </a:pPr>
            <a:r>
              <a:t>6 Regex Patterns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PAN, Aadhaar, Account, Card, Phone, Email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00984" y="4828032"/>
            <a:ext cx="2697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00984" y="4828032"/>
            <a:ext cx="269748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4937760"/>
            <a:ext cx="2441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STAGE 2 MATCHING ENGINE</a:t>
            </a:r>
          </a:p>
          <a:p>
            <a:pPr>
              <a:defRPr sz="1650" b="1">
                <a:solidFill>
                  <a:srgbClr val="166534"/>
                </a:solidFill>
                <a:latin typeface="Calibri"/>
              </a:defRPr>
            </a:pPr>
            <a:r>
              <a:t>3-Way SKU Match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Invoice vs. PO Contract vs. Dock GRN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4828032"/>
            <a:ext cx="2697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4828032"/>
            <a:ext cx="26974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4937760"/>
            <a:ext cx="2441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STAGE 3 ANOMALY MODEL</a:t>
            </a:r>
          </a:p>
          <a:p>
            <a:pPr>
              <a:defRPr sz="1650" b="1">
                <a:solidFill>
                  <a:srgbClr val="B45309"/>
                </a:solidFill>
                <a:latin typeface="Calibri"/>
              </a:defRPr>
            </a:pPr>
            <a:r>
              <a:t>7-D Isolation Forest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1,000-Record Seeded Synthetic Baseline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9992" y="4828032"/>
            <a:ext cx="2697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9992" y="4828032"/>
            <a:ext cx="2697480" cy="731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4937760"/>
            <a:ext cx="2441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AUTOMATED VERIFICATION</a:t>
            </a:r>
          </a:p>
          <a:p>
            <a:pPr>
              <a:defRPr sz="1650" b="1">
                <a:solidFill>
                  <a:srgbClr val="17365D"/>
                </a:solidFill>
                <a:latin typeface="Calibri"/>
              </a:defRPr>
            </a:pPr>
            <a:r>
              <a:t>28 / 33 PyTests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All Collected Tests Passed via pytest -q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2E8F0"/>
                </a:solidFill>
                <a:latin typeface="Calibri"/>
              </a:defRPr>
            </a:pPr>
            <a:r>
              <a:t>SLIDE 2 OF 12   |   1 MIN • PROBLEM &amp; SOLUTION   |   TIMING: 00:45 – 01:30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i="1">
                <a:solidFill>
                  <a:srgbClr val="93C5FD"/>
                </a:solidFill>
                <a:latin typeface="Calibri"/>
              </a:defRPr>
            </a:pPr>
            <a:r>
              <a:t>FinDoc-AuditEngine v3.0  •  Shri Sanjaykumar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30352"/>
            <a:ext cx="11338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Why Combine Deterministic 3-Way Rules with Unsupervised Anomaly Scoring?</a:t>
            </a:r>
          </a:p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Comparing Manual Review, Static ERP Rules, Standalone LLMs, and Our Hybrid Prototype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199632"/>
            <a:ext cx="11365992" cy="4937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i="1">
                <a:solidFill>
                  <a:srgbClr val="17365D"/>
                </a:solidFill>
                <a:latin typeface="Calibri"/>
              </a:defRPr>
            </a:pPr>
            <a:r>
              <a:t>Speaker Cue: Static ERP rules catch exact price/quantity mismatches but miss unusual multi-feature combinations when a PO matches an invoice. Conversely, standalone LLMs struggle with exact floating-point math.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389888"/>
          <a:ext cx="1136599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11680"/>
                <a:gridCol w="2194560"/>
                <a:gridCol w="2240280"/>
                <a:gridCol w="2862072"/>
              </a:tblGrid>
              <a:tr h="5867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 AP Review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Static ERP Rules Only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Standalone LLM / Prompting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FinDoc-AuditEngine v3.0 (Prototype)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SKU Unit-Price &amp; GRN Math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Slow, prone to fatigue on multi-SKU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Exact arithmetic on configured tolerances ($0.01)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Prone to floating-point tax rounding hallucinations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Exact deterministic SKU &amp; GRN math ($0.05 subtotal tolerance)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PO-Matched Statistical Anomalies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Depends on individual auditor intuition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Misses offshore rush invoices if PO matches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Unstable uncalibrated text opinions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7-Feature IsolationForest flags multivariate outliers (synthetic baseline)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Score Explainability (XAI)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Manual written 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Binary pass/fail rule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Post-hoc generated text rationale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Local single-feature perturbation (+pts per feature driver)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Pre-Inference PII Protection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Raw PII visible on screen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Often logs raw payload fields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Risk of sending PAN/Aadhaar to external APIs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Stage 1 regex masking into indexed surrogates ([PAN_01])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Prototype Storage &amp;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Spreadsheets / paper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ERP database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Unstructured chat transcripts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In-memory Python ledger + dual USD/INR view + CSV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5047488"/>
            <a:ext cx="1136599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5047488"/>
            <a:ext cx="11365992" cy="731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175503"/>
            <a:ext cx="110368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Core Architectural Takeaway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Deterministic rules and statistical anomaly detection are complementary: Stage 2 enforces exact contract price and quantity tolerances, while Stage 3 highlights unusual transactions (such as a $49,500 Net-1 offshore invoice) that pass static PO matching.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2E8F0"/>
                </a:solidFill>
                <a:latin typeface="Calibri"/>
              </a:defRPr>
            </a:pPr>
            <a:r>
              <a:t>SLIDE 3 OF 12   |   2 MIN • SYSTEM ARCHITECTURE   |   TIMING: 01:30 – 02:30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i="1">
                <a:solidFill>
                  <a:srgbClr val="93C5FD"/>
                </a:solidFill>
                <a:latin typeface="Calibri"/>
              </a:defRPr>
            </a:pPr>
            <a:r>
              <a:t>FinDoc-AuditEngine v3.0  •  Shri Sanjaykumar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30352"/>
            <a:ext cx="11338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End-to-End 4-Stage Prototype Pipeline Architecture</a:t>
            </a:r>
          </a:p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Sequential Request Flow from FastAPI Ingestion to Governance Routing &amp; In-Memory Audit Ledger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199632"/>
            <a:ext cx="11365992" cy="4937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i="1">
                <a:solidFill>
                  <a:srgbClr val="17365D"/>
                </a:solidFill>
                <a:latin typeface="Calibri"/>
              </a:defRPr>
            </a:pPr>
            <a:r>
              <a:t>Speaker Cue: Every POST /api/v1/audit/evaluate request flows through four modular Python services instrumented with per-stage microsecond timing telemetry.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71600"/>
            <a:ext cx="2578608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2578608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1: PRIVACY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239572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onsolas"/>
              </a:defRPr>
            </a:pPr>
            <a:r>
              <a:t>FinancialPrivacyScrubber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6 Compiled Regex Rules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Masks PAN, Aadhaar, Bank,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Card, Phone, Email -&gt; [TOKEN]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35808" y="2057400"/>
            <a:ext cx="256032" cy="292608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1371600"/>
            <a:ext cx="2578608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578608" cy="329184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2: 3-WAY MATCHER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737360"/>
            <a:ext cx="239572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onsolas"/>
              </a:defRPr>
            </a:pPr>
            <a:r>
              <a:t>ReconciliationMatcher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Invoice vs. PO vs. GRN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Checks Unit Rate ($0.01) &amp;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Net Accepted Qty (Rec - Rej)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1888" y="2057400"/>
            <a:ext cx="256032" cy="292608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371600"/>
            <a:ext cx="2578608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371600"/>
            <a:ext cx="2578608" cy="32918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3: ML + XAI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737360"/>
            <a:ext cx="239572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onsolas"/>
              </a:defRPr>
            </a:pPr>
            <a:r>
              <a:t>AnomalyScorer (7-D)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StandardScaler + 200-Tree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IsolationForest (Synthetic N=1k)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+ Perturbation Attribution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87968" y="2057400"/>
            <a:ext cx="256032" cy="292608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89720" y="1371600"/>
            <a:ext cx="2578608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371600"/>
            <a:ext cx="2578608" cy="32918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4: TIER ROUTER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1737360"/>
            <a:ext cx="239572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onsolas"/>
              </a:defRPr>
            </a:pPr>
            <a:r>
              <a:t>ApprovalRouter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5 Governance Queues +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In-Memory AUDIT_LEDGER</a:t>
            </a:r>
          </a:p>
          <a:p>
            <a:pPr>
              <a:defRPr sz="1000">
                <a:solidFill>
                  <a:srgbClr val="334155"/>
                </a:solidFill>
                <a:latin typeface="Calibri"/>
              </a:defRPr>
            </a:pPr>
            <a:r>
              <a:t>USD ($) &amp; INR (86.50) CSV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11480" y="3218688"/>
          <a:ext cx="11365992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68880"/>
                <a:gridCol w="3017520"/>
                <a:gridCol w="3776472"/>
              </a:tblGrid>
              <a:tr h="4648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 Module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Class / Function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 / Output Contract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Prototype Design Note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app/models.py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InvoicePayload, PurchaseOrderRecord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Pydantic v2 @model_validator(mode='after')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Enforces subtotal * (1 + tax_rate) == total_amount_usd within $0.05 tolerance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app/core/privacy.py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FinancialPrivacyScrubber.scrub_text()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Raw vendor text -&gt; Masked text + redaction count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Regex-based masking for 6 configured patterns prior to logging or scoring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app/services/matcher.py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ReconciliationMatcher.reconcile()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Invoice + PO -&gt; ReconciliationResult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Deterministic SKU rate &amp; GRN net quantity (received - rejected)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app/services/anomaly_detector.py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AnomalyScorer.assess_risk()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7-D feature vector -&gt; AnomalyAssessment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Fit on 1,000 seeded synthetic records; outputs 0-100 engineered risk indicator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app/services/router.py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ApprovalRouter.route() &amp; AUDIT_LEDGER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Match + Risk -&gt; GovernanceDecision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Routes to 5 tiers; appends to in-memory Python list (non-persistent across restarts)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2E8F0"/>
                </a:solidFill>
                <a:latin typeface="Calibri"/>
              </a:defRPr>
            </a:pPr>
            <a:r>
              <a:t>SLIDE 4 OF 12   |   2 MIN • ARCHITECTURE DEEP-DIVE (STAGES 1 &amp; 2)   |   TIMING: 02:30 – 03:15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i="1">
                <a:solidFill>
                  <a:srgbClr val="93C5FD"/>
                </a:solidFill>
                <a:latin typeface="Calibri"/>
              </a:defRPr>
            </a:pPr>
            <a:r>
              <a:t>FinDoc-AuditEngine v3.0  •  Shri Sanjaykumar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30352"/>
            <a:ext cx="11338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Stage 1 Regex Privacy Masking &amp; Stage 2 Deterministic 3-Way Matching</a:t>
            </a:r>
          </a:p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Pre-Inference PII Surrogate Tokenization and Exact SKU-Level Price &amp; Quantity Verification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199632"/>
            <a:ext cx="11365992" cy="4937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i="1">
                <a:solidFill>
                  <a:srgbClr val="17365D"/>
                </a:solidFill>
                <a:latin typeface="Calibri"/>
              </a:defRPr>
            </a:pPr>
            <a:r>
              <a:t>Speaker Cue: Stage 1 masks six configured regex PII patterns into indexed surrogates, while Stage 2 compares every invoice line item against its PO contract rate and dock GRN.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389888"/>
          <a:ext cx="589788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606040"/>
                <a:gridCol w="1325880"/>
              </a:tblGrid>
              <a:tr h="65967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PII Pattern Category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Configured Regex Structure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Surrogate Output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 Indian Tax 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\b[A-Z]{5}[0-9]{4}[A-Z]{1}\b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[PAN_01]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 Aadhaar Format (12-Digit)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\b\d{4}[\s-]?\d{4}[\s-]?\d{4}\b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[AADHAAR_01]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 Bank Account / IBAN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\b(?:ACCT|IBAN|A/C)[:\s-]*[A-Z0-9]{8,22}\b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[BANK_ACCT_01]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 Corporate Credit Card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\b(?:\d{4}[\s-]?){3}\d{4}\b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[CARD_01]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 Phone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(?:\+?\d{1,3}[\s-]?)?\(?\d{3,4}\)?[\s-]?\d{3}[\s-]?\d{4}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[PHONE_01]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967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6. Email Address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\b[A-Za-z0-9._%+-]+@[A-Za-z0-9.-]+\.[A-Za-z]{2,}\b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[EMAIL_01]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92240" y="1389888"/>
            <a:ext cx="528523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389888"/>
            <a:ext cx="5285232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1" y="1517904"/>
            <a:ext cx="4956048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Stage 2: Deterministic 3-Way Reconciliation Math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Contractual Rate Check: Flags RATE_VARIANCE if P_inv,i - P_po,i &gt; $0.01 per SKU.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Dock GRN Net Quantity Check: Computes Q_net,i = Q_received,i - Q_rejected,i and flags QTY_SHORTAGE if billed Q_inv,i &gt; Q_net,i.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Uncontracted SKU Check: Immediately flags any SKU absent from the approved 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767328"/>
            <a:ext cx="52852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3767328"/>
            <a:ext cx="528523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1" y="3895344"/>
            <a:ext cx="49560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Regex Invoice-Text Parser &amp; Scope Transparency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POST /api/v1/audit/parse-raw extracts Invoice ID, PO Number, Vendor, Country, and USD total from unstructured text memos using regex patterns while scrubbing PII.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Honest Scope Note: This endpoint performs regex invoice-text parsing on plain text (not optical PDF/image OCR) and masks the 6 configured regex categories above.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2E8F0"/>
                </a:solidFill>
                <a:latin typeface="Calibri"/>
              </a:defRPr>
            </a:pPr>
            <a:r>
              <a:t>SLIDE 5 OF 12   |   2 MIN • ARCHITECTURE DEEP-DIVE (STAGE 3 ML &amp; XAI)   |   TIMING: 03:15 – 04:00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i="1">
                <a:solidFill>
                  <a:srgbClr val="93C5FD"/>
                </a:solidFill>
                <a:latin typeface="Calibri"/>
              </a:defRPr>
            </a:pPr>
            <a:r>
              <a:t>FinDoc-AuditEngine v3.0  •  Shri Sanjaykumar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30352"/>
            <a:ext cx="11338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7-Feature Isolation Forest &amp; Local Perturbation Attribution (XAI)</a:t>
            </a:r>
          </a:p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Reproducible Seeded Synthetic Baseline (N = 1,000, seed = 42) &amp; Marginal Risk Point Decomposition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199632"/>
            <a:ext cx="11365992" cy="4937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i="1">
                <a:solidFill>
                  <a:srgbClr val="17365D"/>
                </a:solidFill>
                <a:latin typeface="Calibri"/>
              </a:defRPr>
            </a:pPr>
            <a:r>
              <a:t>Speaker Cue: Our 200-tree IsolationForest is trained on a seeded synthetic baseline of 1,000 records to demonstrate anomaly scoring, paired with single-feature perturbation attribution.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389888"/>
          <a:ext cx="59893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011680"/>
                <a:gridCol w="2286000"/>
              </a:tblGrid>
              <a:tr h="57721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Mathematical Formulation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Anomaly Signal Captured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F1: log_total_usd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ln(1 + Total_USD)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Compresses heavy-tailed invoice capital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F2: price_variance_ratio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max(0, (P_inv - P_po) / P_po)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Relative unit price markup above PO contract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F3: qty_shortage_ratio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max(0, (Q_inv - Q_net) / Q_inv)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Billing for dock-rejected or undelivered goods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F4: tax_rate_deviation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|tax_rate - 0.18|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Departure from standard 18% GST benchmark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F5: line_item_concentration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 / N_items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Single-line lump-sum retainer concentration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F6: jurisdiction_risk_weight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Tier lookup (0.05 Low -&gt; 0.85 High)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Cross-border / offshore tax-haven vendor risk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F7: payment_urgency_index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1.0 / max(1, payment_terms_days)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Aggressive Net-1 / Net-2 rush wire demands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0" y="1389888"/>
            <a:ext cx="5193792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389888"/>
            <a:ext cx="5193792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48272" y="1536192"/>
            <a:ext cx="48646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Single-Feature Perturbation Attribution (Example: INV-1004 / INV-1005)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Formula: Delta R_k(x) = max(0, R(x) - R(x^(k &lt;- mu_k))) where mu_k is the synthetic baseline median.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2423160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Calibri"/>
              </a:defRPr>
            </a:pPr>
            <a:r>
              <a:t>F2: Unit Rate Markup Ratio   (+39.3 pts)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4848" y="2670048"/>
            <a:ext cx="4389120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84848" y="2670048"/>
            <a:ext cx="2926080" cy="164592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2935224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Calibri"/>
              </a:defRPr>
            </a:pPr>
            <a:r>
              <a:t>F3: Dock GRN Shortage Ratio   (+31.2 pts)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84848" y="3182112"/>
            <a:ext cx="4389120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84848" y="3182112"/>
            <a:ext cx="2331720" cy="164592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3447288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Calibri"/>
              </a:defRPr>
            </a:pPr>
            <a:r>
              <a:t>F6: Offshore Jurisdiction (KY/BZ)   (+28.4 pts)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84848" y="3694176"/>
            <a:ext cx="4389120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84848" y="3694176"/>
            <a:ext cx="2121408" cy="164592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3959352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Calibri"/>
              </a:defRPr>
            </a:pPr>
            <a:r>
              <a:t>F7: Payment Urgency (Net-1)   (+22.1 pts)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84848" y="4206240"/>
            <a:ext cx="4389120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84848" y="4206240"/>
            <a:ext cx="1691640" cy="164592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4471416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Calibri"/>
              </a:defRPr>
            </a:pPr>
            <a:r>
              <a:t>F1: Log Capital Scale ($49.5k)   (+14.6 pts)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84848" y="4718304"/>
            <a:ext cx="4389120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84848" y="4718304"/>
            <a:ext cx="1143000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5010912"/>
            <a:ext cx="48646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 i="1">
                <a:solidFill>
                  <a:srgbClr val="17365D"/>
                </a:solidFill>
                <a:latin typeface="Calibri"/>
              </a:defRPr>
            </a:pPr>
            <a:r>
              <a:t>Methodological Note: The 0–100 score is an engineered anomaly-risk indicator fit on 1,000 synthetic records (not a calibrated probability of fraud). Production use requires validation on real historical company invoices.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2E8F0"/>
                </a:solidFill>
                <a:latin typeface="Calibri"/>
              </a:defRPr>
            </a:pPr>
            <a:r>
              <a:t>SLIDE 6 OF 12   |   5 MIN • LIVE DEMONSTRATION (SCENARIO 1 OF 3)   |   TIMING: 04:00 – 05:30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i="1">
                <a:solidFill>
                  <a:srgbClr val="93C5FD"/>
                </a:solidFill>
                <a:latin typeface="Calibri"/>
              </a:defRPr>
            </a:pPr>
            <a:r>
              <a:t>FinDoc-AuditEngine v3.0  •  Shri Sanjaykumar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30352"/>
            <a:ext cx="11338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Scenario 1: Clean Low-Value Procurement Invoice (INV-1001)</a:t>
            </a:r>
          </a:p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Apex Industrial Supplies Pvt Ltd  •  PO-2026-001  •  $432.00 USD (INR 37,368.00)  •  Tier 1 Auto-Approved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199632"/>
            <a:ext cx="11365992" cy="4937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i="1">
                <a:solidFill>
                  <a:srgbClr val="17365D"/>
                </a:solidFill>
                <a:latin typeface="Calibri"/>
              </a:defRPr>
            </a:pPr>
            <a:r>
              <a:t>Speaker Cue: In Scenario 1 of our live demo, we audit INV-1001 ($432.00). All SKU prices and dock quantities match PO-2026-001, the risk indicator is low (18.2/100), and it routes to Tier 1 Auto-Approval.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53312"/>
            <a:ext cx="2697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53312"/>
            <a:ext cx="2697480" cy="731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463040"/>
            <a:ext cx="2441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INVOICE &amp; PO REFERENCE</a:t>
            </a:r>
          </a:p>
          <a:p>
            <a:pPr>
              <a:defRPr sz="1650" b="1">
                <a:solidFill>
                  <a:srgbClr val="17365D"/>
                </a:solidFill>
                <a:latin typeface="Calibri"/>
              </a:defRPr>
            </a:pPr>
            <a:r>
              <a:t>INV-1001 / PO-001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Apex Industrial Supplies (IN)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1353312"/>
            <a:ext cx="2697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00984" y="1353312"/>
            <a:ext cx="269748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463040"/>
            <a:ext cx="2441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TOTAL AMOUNT (USD / INR)</a:t>
            </a:r>
          </a:p>
          <a:p>
            <a:pPr>
              <a:defRPr sz="1650" b="1">
                <a:solidFill>
                  <a:srgbClr val="166534"/>
                </a:solidFill>
                <a:latin typeface="Calibri"/>
              </a:defRPr>
            </a:pPr>
            <a:r>
              <a:t>$432.00 USD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INR 37,368.00 (@ 86.50)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353312"/>
            <a:ext cx="2697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353312"/>
            <a:ext cx="269748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463040"/>
            <a:ext cx="2441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ENGINEERED RISK INDICATOR</a:t>
            </a:r>
          </a:p>
          <a:p>
            <a:pPr>
              <a:defRPr sz="1650" b="1">
                <a:solidFill>
                  <a:srgbClr val="166534"/>
                </a:solidFill>
                <a:latin typeface="Calibri"/>
              </a:defRPr>
            </a:pPr>
            <a:r>
              <a:t>18.2 / 100 (LOW)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Within synthetic normal 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9992" y="1353312"/>
            <a:ext cx="2697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79992" y="1353312"/>
            <a:ext cx="26974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1463040"/>
            <a:ext cx="2441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GOVERNANCE ROUTING TIER</a:t>
            </a:r>
          </a:p>
          <a:p>
            <a:pPr>
              <a:defRPr sz="1650" b="1">
                <a:solidFill>
                  <a:srgbClr val="2563EB"/>
                </a:solidFill>
                <a:latin typeface="Calibri"/>
              </a:defRPr>
            </a:pPr>
            <a:r>
              <a:t>TIER 1 AUTO-STP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Authorized = True (Zero Variance)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11480" y="2606040"/>
          <a:ext cx="60807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600200"/>
                <a:gridCol w="731520"/>
                <a:gridCol w="731520"/>
                <a:gridCol w="685800"/>
                <a:gridCol w="777240"/>
                <a:gridCol w="685800"/>
              </a:tblGrid>
              <a:tr h="8503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SKU Code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 Description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 Rate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 Rate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Billed Qty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GRN Net Qty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SKU-101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Precision Bearing Assembly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$120.00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 (2 Rec, 0 Rej)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MATCHED ($0.00)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SKU-102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Synthetic Hydraulic Fluid 5L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$60.00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$60.00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 (2 Rec, 0 Rej)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MATCHED ($0.00)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Subtotal / Tax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Subtotal: $360.00  |  GST: 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$432.00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$432.00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 units accepted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EXACT 3-WAY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656832" y="2606040"/>
            <a:ext cx="5120640" cy="340156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56832" y="2606040"/>
            <a:ext cx="512064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2734056"/>
            <a:ext cx="4791455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93C5FD"/>
                </a:solidFill>
                <a:latin typeface="Consolas"/>
              </a:defRPr>
            </a:pPr>
            <a:r>
              <a:t>Terminal Output: python run_mentor_demo.py (Scenario 1)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[STAGE 1] Privacy Scrubber: Masked 2 PII tokens ([EMAIL_01], [PAN_01])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[STAGE 2] 3-Way Matcher:    is_matched=True | variance=$0.00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[STAGE 3] IsolationForest:  risk_indicator=18.2/100 (LOW)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  Top Driver:       Tax Rate Deviation (+1.4 pts)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[STAGE 4] Governance Route: TIER_1_AUTO_APPROVED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  Ledger Entry:     Appended to in-memory AUDIT_LEDGER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  Dual Currency:    $432.00 USD | INR 37,368.00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2E8F0"/>
                </a:solidFill>
                <a:latin typeface="Calibri"/>
              </a:defRPr>
            </a:pPr>
            <a:r>
              <a:t>SLIDE 7 OF 12   |   5 MIN • LIVE DEMONSTRATION (SCENARIO 2 OF 3)   |   TIMING: 05:30 – 07:15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i="1">
                <a:solidFill>
                  <a:srgbClr val="93C5FD"/>
                </a:solidFill>
                <a:latin typeface="Calibri"/>
              </a:defRPr>
            </a:pPr>
            <a:r>
              <a:t>FinDoc-AuditEngine v3.0  •  Shri Sanjaykumar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30352"/>
            <a:ext cx="11338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Scenario 2: Unit-Price Overbilling &amp; Dock GRN Shortage (INV-1004)</a:t>
            </a:r>
          </a:p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Precision Tooling Works  •  PO-2026-004  •  $8,614.00 USD (INR 7,45,111.00)  •  Rejected Discrepancy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199632"/>
            <a:ext cx="11365992" cy="4937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i="1">
                <a:solidFill>
                  <a:srgbClr val="17365D"/>
                </a:solidFill>
                <a:latin typeface="Calibri"/>
              </a:defRPr>
            </a:pPr>
            <a:r>
              <a:t>Speaker Cue: Scenario 2 demonstrates deterministic rule enforcement: Precision Tooling Works bills $550/unit against a $450 PO rate AND bills for 10 units when 2 were rejected at the dock.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53312"/>
            <a:ext cx="2697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53312"/>
            <a:ext cx="2697480" cy="731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463040"/>
            <a:ext cx="2441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INVOICE &amp; PO REFERENCE</a:t>
            </a:r>
          </a:p>
          <a:p>
            <a:pPr>
              <a:defRPr sz="1650" b="1">
                <a:solidFill>
                  <a:srgbClr val="17365D"/>
                </a:solidFill>
                <a:latin typeface="Calibri"/>
              </a:defRPr>
            </a:pPr>
            <a:r>
              <a:t>INV-1004 / PO-004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Precision Tooling Works (IN)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1353312"/>
            <a:ext cx="2697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00984" y="1353312"/>
            <a:ext cx="2697480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463040"/>
            <a:ext cx="2441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BILLED VS. PO CONTRACT</a:t>
            </a:r>
          </a:p>
          <a:p>
            <a:pPr>
              <a:defRPr sz="1650" b="1">
                <a:solidFill>
                  <a:srgbClr val="B91C1C"/>
                </a:solidFill>
                <a:latin typeface="Calibri"/>
              </a:defRPr>
            </a:pPr>
            <a:r>
              <a:t>$8,614 vs $7,552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+$1,062.00 Total Discrepancy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353312"/>
            <a:ext cx="2697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353312"/>
            <a:ext cx="26974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463040"/>
            <a:ext cx="2441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ENGINEERED RISK INDICATOR</a:t>
            </a:r>
          </a:p>
          <a:p>
            <a:pPr>
              <a:defRPr sz="1650" b="1">
                <a:solidFill>
                  <a:srgbClr val="B45309"/>
                </a:solidFill>
                <a:latin typeface="Calibri"/>
              </a:defRPr>
            </a:pPr>
            <a:r>
              <a:t>79.5 / 100 (HIGH)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Markup (+39.3) + Shortage (+31.2)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9992" y="1353312"/>
            <a:ext cx="2697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79992" y="1353312"/>
            <a:ext cx="2697480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1463040"/>
            <a:ext cx="2441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GOVERNANCE ROUTING TIER</a:t>
            </a:r>
          </a:p>
          <a:p>
            <a:pPr>
              <a:defRPr sz="1650" b="1">
                <a:solidFill>
                  <a:srgbClr val="B91C1C"/>
                </a:solidFill>
                <a:latin typeface="Calibri"/>
              </a:defRPr>
            </a:pPr>
            <a:r>
              <a:t>REJECTED_DISCREPANCY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Authorized = False (Blocked)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11480" y="2606040"/>
          <a:ext cx="60807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88720"/>
                <a:gridCol w="1188720"/>
                <a:gridCol w="1188720"/>
                <a:gridCol w="1371600"/>
              </a:tblGrid>
              <a:tr h="8503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SKU Code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Invoice Billed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 Contract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GRN Dock Log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Detected Discrepancy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SKU-401 CNC Spindle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 units @ $550.00 ($5,500)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 units @ $450.00 ($4,500)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 Rec, 2 Rejected (Net = 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RATE_VARIANCE (+$100/u) + QTY_SHORTAGE (2 units)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SKU-402 Servo Drive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 units @ $360.00 ($1,800)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 units @ $380.00 ($1,900)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 Rec, 0 Rejected (Net = 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MATCHED (Within PO contract cap)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Total + 18% GST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$8,614.00 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$7,552.00 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Net Payable: $6,372.00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Blocked: Overbilled by +$1,900.00 pre-tax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656832" y="2606040"/>
            <a:ext cx="5120640" cy="340156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56832" y="2606040"/>
            <a:ext cx="5120640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2734056"/>
            <a:ext cx="4791455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93C5FD"/>
                </a:solidFill>
                <a:latin typeface="Consolas"/>
              </a:defRPr>
            </a:pPr>
            <a:r>
              <a:t>Terminal Output &amp; Dynamic DOM Table Editing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[STAGE 2] 3-Way Matcher:    is_matched=False (2 Violations)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- SKU-401 Rate Overcharge: Inv $550.00 vs PO $450.00 (+22.2%)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- SKU-401 Dock Shortage:   Billed 10 vs Net Accepted 8 (2 damaged)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[STAGE 3] Perturbation XAI:  risk_indicator=79.5/100 (HIGH)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- Unit Rate Markup Ratio:  +39.3 pts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- Dock GRN Shortage Ratio: +31.2 pts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[STAGE 4] Route Decision:   REJECTED_DISCREPANCY (Payment Blocked)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2E8F0"/>
                </a:solidFill>
                <a:latin typeface="Calibri"/>
              </a:defRPr>
            </a:pPr>
            <a:r>
              <a:t>SLIDE 8 OF 12   |   5 MIN • LIVE DEMONSTRATION (SCENARIO 3 OF 3)   |   TIMING: 07:15 – 09:00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i="1">
                <a:solidFill>
                  <a:srgbClr val="93C5FD"/>
                </a:solidFill>
                <a:latin typeface="Calibri"/>
              </a:defRPr>
            </a:pPr>
            <a:r>
              <a:t>FinDoc-AuditEngine v3.0  •  Shri Sanjaykumar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30352"/>
            <a:ext cx="11338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Scenario 3: PO-Matched Critical Anomaly (INV-1005 — Frozen Fraud Risk)</a:t>
            </a:r>
          </a:p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Cayman Horizon Advisory Ltd (KY)  •  $49,500.00 USD (INR 42,81,750.00)  •  Net-1 Rush Wire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199632"/>
            <a:ext cx="11365992" cy="4937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i="1">
                <a:solidFill>
                  <a:srgbClr val="17365D"/>
                </a:solidFill>
                <a:latin typeface="Calibri"/>
              </a:defRPr>
            </a:pPr>
            <a:r>
              <a:t>Speaker Cue: Scenario 3 shows why Stage 3 IsolationForest is essential: INV-1005 matches PO-2026-005 on price and quantity ($0 variance), but combines an offshore tax haven (KY), Net-1 urgency, and a $49,500 lump sum.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53312"/>
            <a:ext cx="2697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53312"/>
            <a:ext cx="2697480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463040"/>
            <a:ext cx="2441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VENDOR &amp; JURISDICTION</a:t>
            </a:r>
          </a:p>
          <a:p>
            <a:pPr>
              <a:defRPr sz="1650" b="1">
                <a:solidFill>
                  <a:srgbClr val="B91C1C"/>
                </a:solidFill>
                <a:latin typeface="Calibri"/>
              </a:defRPr>
            </a:pPr>
            <a:r>
              <a:t>Cayman Horizon (KY)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High-Risk Offshore Jurisdiction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1353312"/>
            <a:ext cx="2697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00984" y="1353312"/>
            <a:ext cx="269748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463040"/>
            <a:ext cx="2441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3-WAY DETERMINISTIC MATCH</a:t>
            </a:r>
          </a:p>
          <a:p>
            <a:pPr>
              <a:defRPr sz="1650" b="1">
                <a:solidFill>
                  <a:srgbClr val="166534"/>
                </a:solidFill>
                <a:latin typeface="Calibri"/>
              </a:defRPr>
            </a:pPr>
            <a:r>
              <a:t>PASSED ($0.00 Var)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1 unit @ $49,500 matches PO-005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353312"/>
            <a:ext cx="2697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353312"/>
            <a:ext cx="2697480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463040"/>
            <a:ext cx="2441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ENGINEERED RISK INDICATOR</a:t>
            </a:r>
          </a:p>
          <a:p>
            <a:pPr>
              <a:defRPr sz="1650" b="1">
                <a:solidFill>
                  <a:srgbClr val="B91C1C"/>
                </a:solidFill>
                <a:latin typeface="Calibri"/>
              </a:defRPr>
            </a:pPr>
            <a:r>
              <a:t>99.0 / 100 (CRITICAL)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Isolated at shallow tree depth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9992" y="1353312"/>
            <a:ext cx="26974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79992" y="1353312"/>
            <a:ext cx="2697480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1463040"/>
            <a:ext cx="244144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75569"/>
                </a:solidFill>
                <a:latin typeface="Calibri"/>
              </a:defRPr>
            </a:pPr>
            <a:r>
              <a:t>GOVERNANCE ROUTING TIER</a:t>
            </a:r>
          </a:p>
          <a:p>
            <a:pPr>
              <a:defRPr sz="1650" b="1">
                <a:solidFill>
                  <a:srgbClr val="B91C1C"/>
                </a:solidFill>
                <a:latin typeface="Calibri"/>
              </a:defRPr>
            </a:pPr>
            <a:r>
              <a:t>FROZEN_FRAUD_RISK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Authorized = False (CFO Hold)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606040"/>
            <a:ext cx="589788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606040"/>
            <a:ext cx="58978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734056"/>
            <a:ext cx="5568696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Why Static ERP Rules Pass INV-1005 vs. Why Stage 3 Flags It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Deterministic Check: SKU-501 bills 1 unit @ $49,500.00 against PO-2026-005 ($49,500.00) with 1 accepted GRN unit -&gt; 0.00 price/qty variance.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Multi-Feature Anomaly Pattern Caught by 7-D IsolationForest: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  1. Jurisdiction Risk Weight (F6 = 0.85): Cayman Islands (KY) offshore entity.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  2. Payment Urgency Index (F7 = 1.00): Demands Net-1 immediate wire transfer.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  3. Structuring Threshold (F1 = ln(49501)): Just $500 under $50k board cap.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  4. Tax Deviation (F4 = 0.18): 0% tax on a high-value advisory retainer.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606040"/>
            <a:ext cx="5285232" cy="340156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2606040"/>
            <a:ext cx="5285232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1" y="2734056"/>
            <a:ext cx="4956048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93C5FD"/>
                </a:solidFill>
                <a:latin typeface="Consolas"/>
              </a:defRPr>
            </a:pPr>
            <a:r>
              <a:t>Terminal Output: Scenario 3 (INV-1005 Anomaly Freeze)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[STAGE 1] Privacy Scrubber: Masked [BANK_ACCT_01], [EMAIL_01]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[STAGE 2] 3-Way Matcher:    is_matched=True | variance=$0.00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[STAGE 3] IsolationForest:  risk_indicator=99.0/100 (CRITICAL)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- Jurisdiction Risk Weight (KY): +34.8 pts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- Payment Window Urgency (Net-1): +29.4 pts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  - Log Capital Scale ($49,500):   +19.1 pts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Consolas"/>
              </a:defRPr>
            </a:pPr>
            <a:r>
              <a:t>[STAGE 4] Route Decision:   FROZEN_FRAUD_RISK (Disbursement Frozen)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2E8F0"/>
                </a:solidFill>
                <a:latin typeface="Calibri"/>
              </a:defRPr>
            </a:pPr>
            <a:r>
              <a:t>SLIDE 9 OF 12   |   5 MIN • WEB WORKBENCH &amp; DYNAMIC UI   |   TIMING: 08:30 – 09:15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i="1">
                <a:solidFill>
                  <a:srgbClr val="93C5FD"/>
                </a:solidFill>
                <a:latin typeface="Calibri"/>
              </a:defRPr>
            </a:pPr>
            <a:r>
              <a:t>FinDoc-AuditEngine v3.0  •  Shri Sanjaykumar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30352"/>
            <a:ext cx="11338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Institutional Light Web Workbench &amp; Dynamic DOM Line-Item Composer</a:t>
            </a:r>
          </a:p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Live Browser Inspection at http://127.0.0.1:8000 with Embedded Demo Video &amp; Deliverable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199632"/>
            <a:ext cx="11365992" cy="4937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i="1">
                <a:solidFill>
                  <a:srgbClr val="17365D"/>
                </a:solidFill>
                <a:latin typeface="Calibri"/>
              </a:defRPr>
            </a:pPr>
            <a:r>
              <a:t>Speaker Cue: In the browser workbench, editing any SKU rate or GRN rejected count dynamically recomputes 3-way variances and perturbation bars via collectLineItemsFromDOM().</a:t>
            </a:r>
          </a:p>
        </p:txBody>
      </p:sp>
      <p:pic>
        <p:nvPicPr>
          <p:cNvPr id="8" name="Picture 7" descr="01_final_panel_presentation_execu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89888"/>
            <a:ext cx="5897880" cy="4617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0" y="1389888"/>
            <a:ext cx="528523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389888"/>
            <a:ext cx="528523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1" y="1517904"/>
            <a:ext cx="4956048" cy="1993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100% Dynamic Frontend-to-Backend Execution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collectLineItemsFromDOM() in dashboard.js reads every row's SKU Code, Invoice Rate, PO Rate, Billed Qty, GRN Received, and GRN Rejected directly from live HTML inputs.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+ Add Line Item &amp; Synthesize Random Invoice buttons allow mentors to test arbitrary custom invoice combinations on the spot.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749039"/>
            <a:ext cx="528523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3749039"/>
            <a:ext cx="5285232" cy="731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1" y="3877055"/>
            <a:ext cx="4956048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Integrated Media, Slide Deck &amp; CSV Compliance Export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1-Click 5-Scenario Batch Execution populates all 5 governance tiers into the in-memory ledger with dual USD ($) and INR (86.50) accounting.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Includes an embedded HTML5 Demo Walkthrough Video player, interactive 12-Slide viewer, 10 Interview Q&amp;As, and 1-click .pptx / .pdf / .mp4 downloads.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2E8F0"/>
                </a:solidFill>
                <a:latin typeface="Calibri"/>
              </a:defRPr>
            </a:pPr>
            <a:r>
              <a:t>SLIDE 10 OF 12   |   2 MIN • TESTING &amp; VERIFICATION   |   TIMING: 09:15 – 10:15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i="1">
                <a:solidFill>
                  <a:srgbClr val="93C5FD"/>
                </a:solidFill>
                <a:latin typeface="Calibri"/>
              </a:defRPr>
            </a:pPr>
            <a:r>
              <a:t>FinDoc-AuditEngine v3.0  •  Shri Sanjaykumar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30352"/>
            <a:ext cx="11338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Automated PyTest Verification Suite (All Collected Tests Passed)</a:t>
            </a:r>
          </a:p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Day 29: 28 Passed (python -m pytest tests -q)  •  Day 30: 33 Passed (python -m pytest tests -q)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199632"/>
            <a:ext cx="11365992" cy="4937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i="1">
                <a:solidFill>
                  <a:srgbClr val="17365D"/>
                </a:solidFill>
                <a:latin typeface="Calibri"/>
              </a:defRPr>
            </a:pPr>
            <a:r>
              <a:t>Speaker Cue: Running python -m pytest tests -q executes 28 tests in Day 29 and 33 tests in Day 30. All collected functional, mathematical, and API tests pass.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389888"/>
          <a:ext cx="59893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868680"/>
                <a:gridCol w="3337560"/>
              </a:tblGrid>
              <a:tr h="65967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Module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Core Verification Scope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test_audit_engine.py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Clean 3-way match, unit-rate variance, GRN shortage, anomaly monotonicity, governance tiers, regex PII masking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test_error_handling.py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 tests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Custom FinDocAuditException hierarchy and structured JSON error payloads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test_frontend_routes.py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Dashboard HTML/CSS/JS serving, presets, batch execution, and CSV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test_regression.py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 tests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Multi-line DOM edits, regex invoice-text parser, floating-point tax boundary tolerance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test_mentor_prep_routes.py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Day 29 12-slide API, 10 interview Q&amp;As, and deliverable downloads (Total = 28 in Day 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967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test_day30_portfolio.py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 tests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Day 30 portfolio overview, panel tracks, 90-day roadmap, and Resume PDF (Total = 33 in Day 30)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02_pytest_33_tests_pass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89888"/>
            <a:ext cx="5193792" cy="3154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0" y="4663440"/>
            <a:ext cx="5193792" cy="1344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4663440"/>
            <a:ext cx="5193792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4791455"/>
            <a:ext cx="4864607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Test Pass Rate vs. Code Coverage Distinction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All 28 collected tests (Day 29) and 33 collected tests (Day 30) pass (100% pass rate of collected tests).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Statement/branch code coverage is a separate metric measured via pytest-cov in CI.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2E8F0"/>
                </a:solidFill>
                <a:latin typeface="Calibri"/>
              </a:defRPr>
            </a:pPr>
            <a:r>
              <a:t>SLIDE 11 OF 12   |   2 MIN • ENGINEERING CHALLENGES   |   TIMING: 10:15 – 11:00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i="1">
                <a:solidFill>
                  <a:srgbClr val="93C5FD"/>
                </a:solidFill>
                <a:latin typeface="Calibri"/>
              </a:defRPr>
            </a:pPr>
            <a:r>
              <a:t>FinDoc-AuditEngine v3.0  •  Shri Sanjaykumar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30352"/>
            <a:ext cx="11338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Key Engineering Challenges Encountered &amp; How We Solved Them</a:t>
            </a:r>
          </a:p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Practical Debugging Lessons Across Frontend DOM State, Feature Scaling, and Floating-Point Math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199632"/>
            <a:ext cx="11365992" cy="4937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i="1">
                <a:solidFill>
                  <a:srgbClr val="17365D"/>
                </a:solidFill>
                <a:latin typeface="Calibri"/>
              </a:defRPr>
            </a:pPr>
            <a:r>
              <a:t>Speaker Cue: Here are the four most important engineering challenges we resolved while building and polishing FinDoc-AuditEngine v3.0.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389888"/>
          <a:ext cx="113659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3959352"/>
                <a:gridCol w="2286000"/>
              </a:tblGrid>
              <a:tr h="9235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Engineering Challenge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Root Cause Identified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Implemented Code-Level Solution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Verification Method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 Frontend Table Edits Ignored by 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Initial UI submitted the static preset PO line-item array, so live browser edits to SKU rates or GRN rejected units had no effect.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Implemented collectLineItemsFromDOM() in dashboard.js to construct independent InvoicePayload and PurchaseOrderRecord arrays from live DOM inputs.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Verified via multi-line dynamic payload test in test_regression.py.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 Dollar Totals Dominating Isolation Tree Splits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Raw USD invoice totals ($432 to $49,500) spanned orders of magnitude compared to bounded variance ratios (0.0 to 1.0).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Applied logarithmic compression ln(1 + Total_USD) to Feature F1 and standardized all 7 features with StandardScaler before IsolationForest.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Verified risk monotonicity in test_audit_engine.py.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 IEEE 754 Floating-Point Tax Discrepancies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Binary floating-point multiplication (qty * price * 1.18) produced sub-cent rounding differences on multi-SKU invoices.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Enforced two-decimal rounding at line-item boundaries and configured SUBTOTAL_TOLERANCE = $0.05 in Pydantic v2 and ReconciliationMatcher.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Verified boundary tax tests in test_regression.py.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 Test-Count &amp; Claim Consistency Across Docs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Adding new route verification tests increased collected test counts (from 25/30 to 28/33), outdating earlier screenshots and docs.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Synchronized all READMEs, PDFs, slides, and terminal screenshots to report 28 passed (Day 29) and 33 passed (Day 30) and honest prototype scope.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Verified via automated grep &amp; pytest suite execution.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8412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E2E8F0"/>
                </a:solidFill>
                <a:latin typeface="Calibri"/>
              </a:defRPr>
            </a:pPr>
            <a:r>
              <a:t>SLIDE 12 OF 12   |   1–2 MIN • LIMITATIONS &amp; FUTURE WORK   |   TIMING: 11:00 – 12:00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i="1">
                <a:solidFill>
                  <a:srgbClr val="93C5FD"/>
                </a:solidFill>
                <a:latin typeface="Calibri"/>
              </a:defRPr>
            </a:pPr>
            <a:r>
              <a:t>FinDoc-AuditEngine v3.0  •  Shri Sanjaykumar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30352"/>
            <a:ext cx="113385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Honest Prototype Limitations &amp; 90-Day Production Roadmap</a:t>
            </a:r>
          </a:p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Distinguishing Current Prototype Boundaries from Planned Production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199632"/>
            <a:ext cx="11365992" cy="49377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i="1">
                <a:solidFill>
                  <a:srgbClr val="17365D"/>
                </a:solidFill>
                <a:latin typeface="Calibri"/>
              </a:defRPr>
            </a:pPr>
            <a:r>
              <a:t>Speaker Cue: To conclude, we clearly distinguish what our local prototype implements today from the persistence, calibration, OCR, and security controls planned in our 90-day roadmap.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389888"/>
          <a:ext cx="608076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148840"/>
                <a:gridCol w="2331720"/>
              </a:tblGrid>
              <a:tr h="7696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Prototype Subsystem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Prototype Limitation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 Production Upgrade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Audit Ledger (AUDIT_LEDGER)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In-memory Python list; resets on process restart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Async PostgreSQL (SQLAlchemy 2.0 + asyncpg) + Redis idempotency keys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IsolationForest Baseline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Trained on 1,000 seeded synthetic records (seed=42)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Retrain &amp; validate thresholds on authorized historical enterprise invoices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0–100 Risk 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Engineered path-depth score (not calibrated probability)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Apply Platt scaling / isotonic regression &amp; EvidentlyAI PSI drift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Privacy Scrubber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 compiled regex patterns (PAN, Aadhaar, etc.)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Combine regex rules with context-aware NER (Microsoft Presidio)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Raw Invoice Parser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Regex text parser over plain text strings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Integrate optical PDF/image OCR (Tesseract / LayoutLMv3) + OAuth2 RBAC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656832" y="1389888"/>
            <a:ext cx="512064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56832" y="1389888"/>
            <a:ext cx="5120640" cy="7315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21424" y="1517904"/>
            <a:ext cx="479145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Month 1 (Days 1–30): Persistence, Auth &amp; Optical OCR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Replace in-memory AUDIT_LEDGER with PostgreSQL + Alembic migrations, Redis idempotency keys, OAuth2/JWT RBAC, and optical PDF invoice extraction.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56832" y="2962656"/>
            <a:ext cx="512064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56832" y="2962656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1424" y="3090672"/>
            <a:ext cx="479145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Month 2 (Days 31–60): Calibration, MLOps &amp; Coverage Gates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Practice probability calibration (Brier score, PR-AUC), MLflow model registry, EvidentlyAI PSI drift monitoring, and pytest-cov (&gt;=85%) in CI.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56832" y="4535424"/>
            <a:ext cx="5120640" cy="1472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56832" y="4535424"/>
            <a:ext cx="5120640" cy="73152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4663440"/>
            <a:ext cx="4791455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Month 3 (Days 61–90): Hybrid RAG, LangGraph &amp; System Design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Build Hybrid BM25 + Dense RAG with RAGAS evaluation, stateful LangGraph dispute workflows, and async task queues (Celery / Kafka).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