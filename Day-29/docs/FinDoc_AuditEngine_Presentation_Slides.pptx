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mentors and panel members. In this first minute, I will introduce the business problem and our working prototype, FinDoc-AuditEngine v3.0.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and anomaly detection solve different problems: deterministic matching enforces contract math, while our synthetic-baseline Isolation Forest highlights unusual multi-feature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Walking through our 2-minute architecture overview: every request flows sequentially through regex PII masking, 3-way reconciliation, 7-feature Isolation Forest scoring, and governance routing.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are the 7 features fed into StandardScaler and IsolationForest. Note that this model uses a seeded synthetic baseline of 1,000 records to demonstrate anomaly scoring.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Before business logic runs, Pydantic v2 validates mathematical consistency. Approved or flagged decisions are stored in our prototype in-memory ledger.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our 5-minute live demo, Scenario 1 demonstrates a clean low-value procurement invoice (INV-1001) that passes 3-way matching and routes to Tier 1 Straight-Through Processing.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Scenario 2 shows what happens when a vendor bills $450 per unit against a $400 Purchase Order. The 3-way matcher catches the $500 overcharge and routes to REJECTED_DISCREPANCY.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Scenario 3 is the centerpiece of the hybrid design: INV-1005 matches its PO on price and quantity, but the Isolation Forest flags the combination of offshore jurisdiction, Net-1 urgency, and $49,500 amount.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Running python -m pytest tests -q executes 28 tests in Day 29 and 33 tests in Day 30, with all collected tests passing across matching math, regex masking, and API endpoints.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practical engineering challenges stood out: decoupling the frontend DOM table from static presets so any user edit is evaluated live, and handling floating-point tax tolerances cleanly.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Being transparent about limitations is essential in engineering reviews: our ledger is currently in-memory, our Isolation Forest uses a synthetic baseline, and our text parser uses regex rather than optical OCR.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 transition this prototype toward production, our roadmap prioritizes PostgreSQL persistence, calibration on real historical data, optical OCR integration, and RBAC security. Thank you—I welcome your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  SLIDE 1 OF 12   |   1 MIN • PROBLEM &amp; SOLUTION   |   TARGET TIMING: 00:00 – 00:30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FinDoc-AuditEngine v3.0 — Financial Reconciliation &amp; Anomaly Scoring Prototype</a:t>
            </a:r>
          </a:p>
          <a:p>
            <a:pPr>
              <a:defRPr sz="1300" b="1">
                <a:solidFill>
                  <a:srgbClr val="2563EB"/>
                </a:solidFill>
                <a:latin typeface="Calibri"/>
              </a:defRPr>
            </a:pPr>
            <a:r>
              <a:t>Linkific AI/ML Engineering Internship Capstone • Shri Sanjaykumar V (VIT Vellore)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37360"/>
            <a:ext cx="534924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/>
          <a:lstStyle/>
          <a:p>
            <a:pPr algn="ctr">
              <a:spcAft>
                <a:spcPts val="1000"/>
              </a:spcAft>
              <a:defRPr sz="1500" b="1">
                <a:solidFill>
                  <a:srgbClr val="0F172A"/>
                </a:solidFill>
              </a:defRPr>
            </a:pPr>
            <a:r>
              <a:t>Business Problem in Accounts Payable (AP)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Manual 3-way matching between Vendor Invoices, Purchase Orders (PO), and Goods Receipt Notes (GRN) is slow and error-prone.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Static ERP rules catch exact price/quantity mismatches but miss statistical anomalies when a PO and invoice match on paper.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Sensitive financial identifiers (PAN, Aadhaar, bank accounts, emails) risk leaking into logs or ML pipelines if unmasked.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63640" y="1737360"/>
            <a:ext cx="534924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/>
          <a:lstStyle/>
          <a:p>
            <a:pPr algn="ctr">
              <a:spcAft>
                <a:spcPts val="1000"/>
              </a:spcAft>
              <a:defRPr sz="1500" b="1">
                <a:solidFill>
                  <a:srgbClr val="0F172A"/>
                </a:solidFill>
              </a:defRPr>
            </a:pPr>
            <a:r>
              <a:t>Our Working Prototype Solution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FastAPI reference implementation combining regex-based PII masking, deterministic 3-way matching, and unsupervised ML scoring.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Dual-currency prototype ledger displaying both USD ($) and INR (configured at 1 USD = 86.50 INR).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Local perturbation-based feature attribution explaining the top risk drivers behind each anomaly score.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779008"/>
            <a:ext cx="11064240" cy="777240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100" i="1">
                <a:solidFill>
                  <a:srgbClr val="64748B"/>
                </a:solidFill>
              </a:defRPr>
            </a:pPr>
            <a:r>
              <a:t>Speaker Cue: "Welcome mentors and panel members. In this first minute, I will introduce the business problem and our working prototype, FinDoc-AuditEngine v3.0."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  SLIDE 2 OF 12   |   1 MIN • PROBLEM &amp; SOLUTION   |   TARGET TIMING: 00:30 – 01:00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Why Combine Deterministic Rules with Unsupervised Anomaly Scoring?</a:t>
            </a:r>
          </a:p>
          <a:p>
            <a:pPr>
              <a:defRPr sz="1300" b="1">
                <a:solidFill>
                  <a:srgbClr val="2563EB"/>
                </a:solidFill>
                <a:latin typeface="Calibri"/>
              </a:defRPr>
            </a:pPr>
            <a:r>
              <a:t>Complementary Strengths of Rules vs. Statistical Isolation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37360"/>
            <a:ext cx="534924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/>
          <a:lstStyle/>
          <a:p>
            <a:pPr algn="ctr">
              <a:spcAft>
                <a:spcPts val="1000"/>
              </a:spcAft>
              <a:defRPr sz="1500" b="1">
                <a:solidFill>
                  <a:srgbClr val="0F172A"/>
                </a:solidFill>
              </a:defRPr>
            </a:pPr>
            <a:r>
              <a:t>Deterministic 3-Way Matching Rules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Enforces configured SKU-level unit price and net accepted dock quantity (received minus rejected) rules.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Catches explicit overbilling (e.g., billing $450/unit against a $400/unit PO contract) with exact arithmetic.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Limitation: Cannot flag unusual payment urgency or offshore jurisdiction risk when PO and invoice numbers match.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63640" y="1737360"/>
            <a:ext cx="534924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/>
          <a:lstStyle/>
          <a:p>
            <a:pPr algn="ctr">
              <a:spcAft>
                <a:spcPts val="1000"/>
              </a:spcAft>
              <a:defRPr sz="1500" b="1">
                <a:solidFill>
                  <a:srgbClr val="0F172A"/>
                </a:solidFill>
              </a:defRPr>
            </a:pPr>
            <a:r>
              <a:t>Unsupervised Isolation Forest Indicator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Evaluates 7 engineered features simultaneously to surface unusual transactions (e.g., $49,500 Net-1 offshore invoice).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Trained on a reproducible seeded synthetic baseline of 1,000 transaction-like records for demonstration.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Outputs an engineered 0–100 anomaly-risk indicator (not a calibrated probability of fraud).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779008"/>
            <a:ext cx="11064240" cy="777240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100" i="1">
                <a:solidFill>
                  <a:srgbClr val="64748B"/>
                </a:solidFill>
              </a:defRPr>
            </a:pPr>
            <a:r>
              <a:t>Speaker Cue: "Rules and anomaly detection solve different problems: deterministic matching enforces contract math, while our synthetic-baseline Isolation Forest highlights unusual multi-feature patterns."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  SLIDE 3 OF 12   |   2 MIN • SYSTEM ARCHITECTURE   |   TARGET TIMING: 01:00 – 01:45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End-to-End 4-Stage Prototype Pipeline Architecture</a:t>
            </a:r>
          </a:p>
          <a:p>
            <a:pPr>
              <a:defRPr sz="1300" b="1">
                <a:solidFill>
                  <a:srgbClr val="2563EB"/>
                </a:solidFill>
                <a:latin typeface="Calibri"/>
              </a:defRPr>
            </a:pPr>
            <a:r>
              <a:t>Modular FastAPI Services with Stage-Level Timing Telemetry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37360"/>
            <a:ext cx="534924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/>
          <a:lstStyle/>
          <a:p>
            <a:pPr algn="ctr">
              <a:spcAft>
                <a:spcPts val="1000"/>
              </a:spcAft>
              <a:defRPr sz="1500" b="1">
                <a:solidFill>
                  <a:srgbClr val="0F172A"/>
                </a:solidFill>
              </a:defRPr>
            </a:pPr>
            <a:r>
              <a:t>Stages 1 &amp; 2: Privacy &amp; Reconciliation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Stage 1 — FinancialPrivacyScrubber (app/core/privacy.py): Regex-based masking for 6 configured patterns (PAN, Aadhaar format, Account, Card, Phone, Email).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Stage 2 — ReconciliationMatcher (app/services/matcher.py): Compares Invoice line items against PO rates and GRN net quantities within a $0.05 subtotal tolerance.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63640" y="1737360"/>
            <a:ext cx="534924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/>
          <a:lstStyle/>
          <a:p>
            <a:pPr algn="ctr">
              <a:spcAft>
                <a:spcPts val="1000"/>
              </a:spcAft>
              <a:defRPr sz="1500" b="1">
                <a:solidFill>
                  <a:srgbClr val="0F172A"/>
                </a:solidFill>
              </a:defRPr>
            </a:pPr>
            <a:r>
              <a:t>Stages 3 &amp; 4: ML Scoring &amp; Routing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Stage 3 — AnomalyScorer (app/services/anomaly_detector.py): StandardScaler + 200-tree IsolationForest on 7 features + single-feature perturbation attribution.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Stage 4 — ApprovalRouter &amp; In-Memory Ledger (app/services/router.py): Assigns 1 of 5 governance tiers and appends to the prototype in-memory AUDIT_LEDGER list.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779008"/>
            <a:ext cx="11064240" cy="777240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100" i="1">
                <a:solidFill>
                  <a:srgbClr val="64748B"/>
                </a:solidFill>
              </a:defRPr>
            </a:pPr>
            <a:r>
              <a:t>Speaker Cue: "Walking through our 2-minute architecture overview: every request flows sequentially through regex PII masking, 3-way reconciliation, 7-feature Isolation Forest scoring, and governance routing."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  SLIDE 4 OF 12   |   2 MIN • SYSTEM ARCHITECTURE   |   TARGET TIMING: 01:45 – 02:30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7-Feature Engineering &amp; Reproducible Synthetic Baseline</a:t>
            </a:r>
          </a:p>
          <a:p>
            <a:pPr>
              <a:defRPr sz="1300" b="1">
                <a:solidFill>
                  <a:srgbClr val="2563EB"/>
                </a:solidFill>
                <a:latin typeface="Calibri"/>
              </a:defRPr>
            </a:pPr>
            <a:r>
              <a:t>How AnomalyScorer Computes the 0–100 Engineered Risk Indicator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37360"/>
            <a:ext cx="534924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/>
          <a:lstStyle/>
          <a:p>
            <a:pPr algn="ctr">
              <a:spcAft>
                <a:spcPts val="1000"/>
              </a:spcAft>
              <a:defRPr sz="1500" b="1">
                <a:solidFill>
                  <a:srgbClr val="0F172A"/>
                </a:solidFill>
              </a:defRPr>
            </a:pPr>
            <a:r>
              <a:t>7 Engineered Input Features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1. log_total_usd: ln(1 + Total_USD) to compress heavy-tailed invoice amounts.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2. price_variance_ratio &amp; 3. qty_shortage_ratio: Relative rate markup and dock rejection ratios.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4. tax_rate_deviation (vs. 18% GST baseline) &amp; 5. line_item_concentration.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6. jurisdiction_risk_weight &amp; 7. payment_urgency_index (short Net-1/Net-2 windows).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63640" y="1737360"/>
            <a:ext cx="534924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/>
          <a:lstStyle/>
          <a:p>
            <a:pPr algn="ctr">
              <a:spcAft>
                <a:spcPts val="1000"/>
              </a:spcAft>
              <a:defRPr sz="1500" b="1">
                <a:solidFill>
                  <a:srgbClr val="0F172A"/>
                </a:solidFill>
              </a:defRPr>
            </a:pPr>
            <a:r>
              <a:t>Model Scope &amp; Calibration Disclaimer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Trained at startup on a seeded synthetic baseline (N=1,000, random_state=42) representing normal vs. anomalous patterns.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Single-Feature Perturbation replaces each feature k with its synthetic baseline median to estimate marginal point impact.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Production use would require retraining and threshold calibration on authorized historical enterprise invoice data.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779008"/>
            <a:ext cx="11064240" cy="777240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100" i="1">
                <a:solidFill>
                  <a:srgbClr val="64748B"/>
                </a:solidFill>
              </a:defRPr>
            </a:pPr>
            <a:r>
              <a:t>Speaker Cue: "Here are the 7 features fed into StandardScaler and IsolationForest. Note that this model uses a seeded synthetic baseline of 1,000 records to demonstrate anomaly scoring."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  SLIDE 5 OF 12   |   2 MIN • SYSTEM ARCHITECTURE   |   TARGET TIMING: 02:30 – 03:00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Pydantic v2 Schema Validation, Approval Tiers &amp; In-Memory Ledger</a:t>
            </a:r>
          </a:p>
          <a:p>
            <a:pPr>
              <a:defRPr sz="1300" b="1">
                <a:solidFill>
                  <a:srgbClr val="2563EB"/>
                </a:solidFill>
                <a:latin typeface="Calibri"/>
              </a:defRPr>
            </a:pPr>
            <a:r>
              <a:t>Fail-Fast Input Validation and 5-Tier Governance Routing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37360"/>
            <a:ext cx="534924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/>
          <a:lstStyle/>
          <a:p>
            <a:pPr algn="ctr">
              <a:spcAft>
                <a:spcPts val="1000"/>
              </a:spcAft>
              <a:defRPr sz="1500" b="1">
                <a:solidFill>
                  <a:srgbClr val="0F172A"/>
                </a:solidFill>
              </a:defRPr>
            </a:pPr>
            <a:r>
              <a:t>Pydantic v2 Validation &amp; Error Handling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Cross-field @model_validator verifies line-item sum * (1 + tax_rate) matches total_amount_usd within $0.05.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Validates GRN rejected unitsnever exceed received units and invoice dates do not precede PO dates.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Custom FinDocAuditException handler returns structured JSON error payloads with X-Correlation-ID.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63640" y="1737360"/>
            <a:ext cx="534924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/>
          <a:lstStyle/>
          <a:p>
            <a:pPr algn="ctr">
              <a:spcAft>
                <a:spcPts val="1000"/>
              </a:spcAft>
              <a:defRPr sz="1500" b="1">
                <a:solidFill>
                  <a:srgbClr val="0F172A"/>
                </a:solidFill>
              </a:defRPr>
            </a:pPr>
            <a:r>
              <a:t>5 Governance Tiers &amp; Prototype Storage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Tier 1 STP (&lt;= $1,000, matched, low risk), Tier 2 Manager ($1k–$10k), Tier 3 Director (&gt; $10k).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REJECTED_DISCREPANCY (contract price/qty mismatch) &amp; FROZEN_FRAUD_RISK (high anomaly score &gt;= 68).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Records are stored in an in-memory Python list (AUDIT_LEDGER) for prototype inspection and CSV export.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779008"/>
            <a:ext cx="11064240" cy="777240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100" i="1">
                <a:solidFill>
                  <a:srgbClr val="64748B"/>
                </a:solidFill>
              </a:defRPr>
            </a:pPr>
            <a:r>
              <a:t>Speaker Cue: "Before business logic runs, Pydantic v2 validates mathematical consistency. Approved or flagged decisions are stored in our prototype in-memory ledger."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  SLIDE 6 OF 12   |   5 MIN • LIVE DEMONSTRATION (SCENARIO 1)   |   TARGET TIMING: 03:00 – 04:40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Live Demo Scenario 1: Clean Invoice (INV-1001 — Tier 1 Auto-Approval)</a:t>
            </a:r>
          </a:p>
          <a:p>
            <a:pPr>
              <a:defRPr sz="1300" b="1">
                <a:solidFill>
                  <a:srgbClr val="2563EB"/>
                </a:solidFill>
                <a:latin typeface="Calibri"/>
              </a:defRPr>
            </a:pPr>
            <a:r>
              <a:t>OfficeDepot India Pvt Ltd • $432.00 USD (INR 37,368.00) • Exact 3-Way Match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37360"/>
            <a:ext cx="534924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/>
          <a:lstStyle/>
          <a:p>
            <a:pPr algn="ctr">
              <a:spcAft>
                <a:spcPts val="1000"/>
              </a:spcAft>
              <a:defRPr sz="1500" b="1">
                <a:solidFill>
                  <a:srgbClr val="0F172A"/>
                </a:solidFill>
              </a:defRPr>
            </a:pPr>
            <a:r>
              <a:t>Input Payload &amp; 3-Way Match Verification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Vendor: OfficeDepot India Pvt Ltd (Country: IN, Terms: Net-30, Tax: 18%).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Line Item: SKU-A101 Ergonomic Chair — 2 units billed @ $180.00 vs. PO-9001 @ $180.00 (GRN: 2 received, 0 rejected).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Reconciliation Result: Passed ($0.00 price variance, 0 unit shortage).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63640" y="1737360"/>
            <a:ext cx="534924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/>
          <a:lstStyle/>
          <a:p>
            <a:pPr algn="ctr">
              <a:spcAft>
                <a:spcPts val="1000"/>
              </a:spcAft>
              <a:defRPr sz="1500" b="1">
                <a:solidFill>
                  <a:srgbClr val="0F172A"/>
                </a:solidFill>
              </a:defRPr>
            </a:pPr>
            <a:r>
              <a:t>ML Risk Indicator &amp; Terminal Output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Privacy Scrubber: Masks vendor email and PAN in pre-inference text check.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Engineered Risk Indicator: 25.0 / 100 (LOW) — within synthetic normal baseline.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Routing Decision: TIER_1_STP_AUTO_APPROVED (Authorized = True).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779008"/>
            <a:ext cx="11064240" cy="777240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100" i="1">
                <a:solidFill>
                  <a:srgbClr val="64748B"/>
                </a:solidFill>
              </a:defRPr>
            </a:pPr>
            <a:r>
              <a:t>Speaker Cue: "In our 5-minute live demo, Scenario 1 demonstrates a clean low-value procurement invoice (INV-1001) that passes 3-way matching and routes to Tier 1 Straight-Through Processing."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  SLIDE 7 OF 12   |   5 MIN • LIVE DEMONSTRATION (SCENARIO 2)   |   TARGET TIMING: 04:40 – 06:20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Live Demo Scenario 2: Price Discrepancy (INV-1004 — Rejected Discrepancy)</a:t>
            </a:r>
          </a:p>
          <a:p>
            <a:pPr>
              <a:defRPr sz="1300" b="1">
                <a:solidFill>
                  <a:srgbClr val="2563EB"/>
                </a:solidFill>
                <a:latin typeface="Calibri"/>
              </a:defRPr>
            </a:pPr>
            <a:r>
              <a:t>Overcharge Technologies • $5,400.00 USD (INR 467,100.00) • Unit Rate Overbill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37360"/>
            <a:ext cx="534924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/>
          <a:lstStyle/>
          <a:p>
            <a:pPr algn="ctr">
              <a:spcAft>
                <a:spcPts val="1000"/>
              </a:spcAft>
              <a:defRPr sz="1500" b="1">
                <a:solidFill>
                  <a:srgbClr val="0F172A"/>
                </a:solidFill>
              </a:defRPr>
            </a:pPr>
            <a:r>
              <a:t>Contract Breach &amp; Dynamic Table Editing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Line Item: SKU-D404 Enterprise SSD Array — 10 units billed @ $450.00 vs. PO-9004 contract rate of $400.00/unit.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3-Way Matcher flags RATE_VARIANCE with an exact +$500.00 USD (INR 43,250.00) overcharge.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In the web workbench, editing any SKU rate or GRN rejected count dynamically recomputes this variance.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63640" y="1737360"/>
            <a:ext cx="534924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/>
          <a:lstStyle/>
          <a:p>
            <a:pPr algn="ctr">
              <a:spcAft>
                <a:spcPts val="1000"/>
              </a:spcAft>
              <a:defRPr sz="1500" b="1">
                <a:solidFill>
                  <a:srgbClr val="0F172A"/>
                </a:solidFill>
              </a:defRPr>
            </a:pPr>
            <a:r>
              <a:t>Risk Attribution &amp; Governance Action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Engineered Risk Indicator: 52.1 / 100 (MEDIUM) driven by unit rate markup ratio (+12.5%).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Routing Decision: REJECTED_DISCREPANCY (Authorized = False, requires HITL review).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Demonstrates deterministic rule enforcement blocking contract overcharges immediately.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779008"/>
            <a:ext cx="11064240" cy="777240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100" i="1">
                <a:solidFill>
                  <a:srgbClr val="64748B"/>
                </a:solidFill>
              </a:defRPr>
            </a:pPr>
            <a:r>
              <a:t>Speaker Cue: "Scenario 2 shows what happens when a vendor bills $450 per unit against a $400 Purchase Order. The 3-way matcher catches the $500 overcharge and routes to REJECTED_DISCREPANCY."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  SLIDE 8 OF 12   |   5 MIN • LIVE DEMONSTRATION (SCENARIO 3)   |   TARGET TIMING: 06:20 – 08:00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Live Demo Scenario 3: Critical-Risk Anomaly (INV-1005 — Frozen Fraud Risk)</a:t>
            </a:r>
          </a:p>
          <a:p>
            <a:pPr>
              <a:defRPr sz="1300" b="1">
                <a:solidFill>
                  <a:srgbClr val="2563EB"/>
                </a:solidFill>
                <a:latin typeface="Calibri"/>
              </a:defRPr>
            </a:pPr>
            <a:r>
              <a:t>Shadow Island Holding BZ • $49,500.00 USD (INR 4,281,750.00) • PO Matched but High Anomaly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37360"/>
            <a:ext cx="534924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/>
          <a:lstStyle/>
          <a:p>
            <a:pPr algn="ctr">
              <a:spcAft>
                <a:spcPts val="1000"/>
              </a:spcAft>
              <a:defRPr sz="1500" b="1">
                <a:solidFill>
                  <a:srgbClr val="0F172A"/>
                </a:solidFill>
              </a:defRPr>
            </a:pPr>
            <a:r>
              <a:t>Why Deterministic Rules Alone Pass This Invoice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Line Item: SKU-E505 Advisory Retainer — 1 unit @ $49,500.00 matches PO-9005 ($49,500.00) with 0% tax.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Because price and quantity match the PO, a rule-only engine would escalate to routine approval.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However, the invoice combines an offshore jurisdiction (BZ), Net-1 rush payment demand, and near-$50k amount.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63640" y="1737360"/>
            <a:ext cx="534924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/>
          <a:lstStyle/>
          <a:p>
            <a:pPr algn="ctr">
              <a:spcAft>
                <a:spcPts val="1000"/>
              </a:spcAft>
              <a:defRPr sz="1500" b="1">
                <a:solidFill>
                  <a:srgbClr val="0F172A"/>
                </a:solidFill>
              </a:defRPr>
            </a:pPr>
            <a:r>
              <a:t>7-D Isolation Forest &amp; Perturbation Attribution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Engineered Risk Indicator: 99.0 / 100 (CRITICAL) — isolated in synthetic feature space.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Top Perturbation Drivers: Jurisdiction Risk Weight, Payment Window Urgency (Net-1), and Log Capital Scale.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Routing Decision: FROZEN_FRAUD_RISK (Authorized = False, disbursement blocked for audit).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779008"/>
            <a:ext cx="11064240" cy="777240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100" i="1">
                <a:solidFill>
                  <a:srgbClr val="64748B"/>
                </a:solidFill>
              </a:defRPr>
            </a:pPr>
            <a:r>
              <a:t>Speaker Cue: "Scenario 3 is the centerpiece of the hybrid design: INV-1005 matches its PO on price and quantity, but the Isolation Forest flags the combination of offshore jurisdiction, Net-1 urgency, and $49,500 amount."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  SLIDE 9 OF 12   |   2 MIN • TESTING &amp; ENGINEERING CHALLENGES   |   TARGET TIMING: 08:00 – 09:00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Automated PyTest Verification Suite (All Collected Tests Passed)</a:t>
            </a:r>
          </a:p>
          <a:p>
            <a:pPr>
              <a:defRPr sz="1300" b="1">
                <a:solidFill>
                  <a:srgbClr val="2563EB"/>
                </a:solidFill>
                <a:latin typeface="Calibri"/>
              </a:defRPr>
            </a:pPr>
            <a:r>
              <a:t>Day 29: 28 Passed (python -m pytest tests -q) • Day 30: 33 Passed (python -m pytest tests -q)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37360"/>
            <a:ext cx="534924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/>
          <a:lstStyle/>
          <a:p>
            <a:pPr algn="ctr">
              <a:spcAft>
                <a:spcPts val="1000"/>
              </a:spcAft>
              <a:defRPr sz="1500" b="1">
                <a:solidFill>
                  <a:srgbClr val="0F172A"/>
                </a:solidFill>
              </a:defRPr>
            </a:pPr>
            <a:r>
              <a:t>What Our Automated Tests Verify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test_audit_engine.py (10 tests): Clean 3-way match, price variance, GRN dock shortage, anomaly monotonicity, governance tiers, regex PII masking.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test_error_handling.py (2 tests): Custom exception hierarchy and structured JSON error responses.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test_frontend_routes.py &amp; test_regression.py (13 tests): Dashboard HTML/CSS/JS, invoice-text parser, batch demo, CSV export, and dynamic multi-line inputs.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63640" y="1737360"/>
            <a:ext cx="534924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/>
          <a:lstStyle/>
          <a:p>
            <a:pPr algn="ctr">
              <a:spcAft>
                <a:spcPts val="1000"/>
              </a:spcAft>
              <a:defRPr sz="1500" b="1">
                <a:solidFill>
                  <a:srgbClr val="0F172A"/>
                </a:solidFill>
              </a:defRPr>
            </a:pPr>
            <a:r>
              <a:t>Day 29 &amp; Day 30 Route Verification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test_mentor_prep_routes.py (3 tests): Verifies 12-slide API, 10 interview Q&amp;As, and checklist/PDF downloads (Total = 28 passed in Day 29).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test_day30_portfolio.py (5 tests): Verifies portfolio overview, panel tracks, 90-day roadmap, and resume PDF downloads (Total = 33 passed in Day 30).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Note: Pass rate reflects all collected functional/API tests passing; separate line coverage can be measured via pytest-cov.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779008"/>
            <a:ext cx="11064240" cy="777240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100" i="1">
                <a:solidFill>
                  <a:srgbClr val="64748B"/>
                </a:solidFill>
              </a:defRPr>
            </a:pPr>
            <a:r>
              <a:t>Speaker Cue: "Running python -m pytest tests -q executes 28 tests in Day 29 and 33 tests in Day 30, with all collected tests passing across matching math, regex masking, and API endpoints."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  SLIDE 10 OF 12   |   2 MIN • TESTING &amp; ENGINEERING CHALLENGES   |   TARGET TIMING: 09:00 – 10:00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Key Engineering Challenges &amp; How We Addressed Them</a:t>
            </a:r>
          </a:p>
          <a:p>
            <a:pPr>
              <a:defRPr sz="1300" b="1">
                <a:solidFill>
                  <a:srgbClr val="2563EB"/>
                </a:solidFill>
                <a:latin typeface="Calibri"/>
              </a:defRPr>
            </a:pPr>
            <a:r>
              <a:t>Practical Lessons from Building and Refining the Prototype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37360"/>
            <a:ext cx="534924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/>
          <a:lstStyle/>
          <a:p>
            <a:pPr algn="ctr">
              <a:spcAft>
                <a:spcPts val="1000"/>
              </a:spcAft>
              <a:defRPr sz="1500" b="1">
                <a:solidFill>
                  <a:srgbClr val="0F172A"/>
                </a:solidFill>
              </a:defRPr>
            </a:pPr>
            <a:r>
              <a:t>Challenge 1: Decoupling UI Edits from Static Presets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Issue: Initial frontend prototypes bound invoice submission payloads to static preset PO objects, ignoring live table edits.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Fix: Implemented collectLineItemsFromDOM() in dashboard.js so Invoice rates, PO rates, and GRN quantities are read directly from live DOM inputs.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63640" y="1737360"/>
            <a:ext cx="534924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/>
          <a:lstStyle/>
          <a:p>
            <a:pPr algn="ctr">
              <a:spcAft>
                <a:spcPts val="1000"/>
              </a:spcAft>
              <a:defRPr sz="1500" b="1">
                <a:solidFill>
                  <a:srgbClr val="0F172A"/>
                </a:solidFill>
              </a:defRPr>
            </a:pPr>
            <a:r>
              <a:t>Challenge 2: Feature Scaling &amp; Floating-Point Math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Issue: Raw USD totals ($432 to $49,500) dominated bounded variance ratios (0.0–1.0); binary floats caused penny rounding errors.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Fix: Applied ln(1 + Total_USD) + StandardScaler before IsolationForest, and enforced 2-decimal rounding with a $0.05 subtotal tolerance.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779008"/>
            <a:ext cx="11064240" cy="777240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100" i="1">
                <a:solidFill>
                  <a:srgbClr val="64748B"/>
                </a:solidFill>
              </a:defRPr>
            </a:pPr>
            <a:r>
              <a:t>Speaker Cue: "Two practical engineering challenges stood out: decoupling the frontend DOM table from static presets so any user edit is evaluated live, and handling floating-point tax tolerances cleanly."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  SLIDE 11 OF 12   |   1–2 MIN • LIMITATIONS &amp; FUTURE WORK   |   TARGET TIMING: 10:00 – 11:00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Honest Assessment of Current Prototype Limitations</a:t>
            </a:r>
          </a:p>
          <a:p>
            <a:pPr>
              <a:defRPr sz="1300" b="1">
                <a:solidFill>
                  <a:srgbClr val="2563EB"/>
                </a:solidFill>
                <a:latin typeface="Calibri"/>
              </a:defRPr>
            </a:pPr>
            <a:r>
              <a:t>Distinguishing Prototype Capabilities from Production Requirements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37360"/>
            <a:ext cx="534924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/>
          <a:lstStyle/>
          <a:p>
            <a:pPr algn="ctr">
              <a:spcAft>
                <a:spcPts val="1000"/>
              </a:spcAft>
              <a:defRPr sz="1500" b="1">
                <a:solidFill>
                  <a:srgbClr val="0F172A"/>
                </a:solidFill>
              </a:defRPr>
            </a:pPr>
            <a:r>
              <a:t>Data, Storage &amp; Model Limitations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1. In-Memory Audit Ledger: AUDIT_LEDGER is a Python list in RAM; records reset when the FastAPI process restarts.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2. Synthetic ML Baseline: The Isolation Forest is fit on 1,000 seeded synthetic records, not real company invoices; scores are uncalibrated risk indicators.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63640" y="1737360"/>
            <a:ext cx="534924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/>
          <a:lstStyle/>
          <a:p>
            <a:pPr algn="ctr">
              <a:spcAft>
                <a:spcPts val="1000"/>
              </a:spcAft>
              <a:defRPr sz="1500" b="1">
                <a:solidFill>
                  <a:srgbClr val="0F172A"/>
                </a:solidFill>
              </a:defRPr>
            </a:pPr>
            <a:r>
              <a:t>Security, Parsing &amp; Operational Limitations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3. Regex PII Scope: Covers 6 configured regex patterns (PAN, Aadhaar format, etc.) rather than context-aware NER across unstructured layouts.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4. Invoice-Text Parser vs. True OCR: /api/v1/audit/parse-raw parses raw text strings via regex; it does not yet integrate an optical PDF/image OCR engine.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5. Authentication &amp; Concurrency: No OAuth2/RBAC or distributed idempotency locks in the local prototype.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779008"/>
            <a:ext cx="11064240" cy="777240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100" i="1">
                <a:solidFill>
                  <a:srgbClr val="64748B"/>
                </a:solidFill>
              </a:defRPr>
            </a:pPr>
            <a:r>
              <a:t>Speaker Cue: "Being transparent about limitations is essential in engineering reviews: our ledger is currently in-memory, our Isolation Forest uses a synthetic baseline, and our text parser uses regex rather than optical OCR."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  SLIDE 12 OF 12   |   1–2 MIN • LIMITATIONS &amp; FUTURE WORK   |   TARGET TIMING: 11:00 – 12:00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Planned Production Improvements &amp; 90-Day Learning Roadmap</a:t>
            </a:r>
          </a:p>
          <a:p>
            <a:pPr>
              <a:defRPr sz="1300" b="1">
                <a:solidFill>
                  <a:srgbClr val="2563EB"/>
                </a:solidFill>
                <a:latin typeface="Calibri"/>
              </a:defRPr>
            </a:pPr>
            <a:r>
              <a:t>Next Steps for Persistence, Model Calibration, Security &amp; Scale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37360"/>
            <a:ext cx="534924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/>
          <a:lstStyle/>
          <a:p>
            <a:pPr algn="ctr">
              <a:spcAft>
                <a:spcPts val="1000"/>
              </a:spcAft>
              <a:defRPr sz="1500" b="1">
                <a:solidFill>
                  <a:srgbClr val="0F172A"/>
                </a:solidFill>
              </a:defRPr>
            </a:pPr>
            <a:r>
              <a:t>Planned Architecture Upgrades (Future Work)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Durable Storage &amp; Concurrency: Replace in-memory list with PostgreSQL (SQLAlchemy + asyncpg) and Redis idempotency keys.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Production Model Validation: Evaluate against labeled historical AP datasets, calibrate thresholds, and monitor feature drift (EvidentlyAI PSI).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Optical Document Extraction &amp; Security: Integrate LayoutLMv3/OCR for PDF invoices and add OAuth2/JWT role-based access control.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63640" y="1737360"/>
            <a:ext cx="534924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/>
          <a:lstStyle/>
          <a:p>
            <a:pPr algn="ctr">
              <a:spcAft>
                <a:spcPts val="1000"/>
              </a:spcAft>
              <a:defRPr sz="1500" b="1">
                <a:solidFill>
                  <a:srgbClr val="0F172A"/>
                </a:solidFill>
              </a:defRPr>
            </a:pPr>
            <a:r>
              <a:t>90-Day Post-Internship Learning Plan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Month 1 (Days 1–30): Hybrid BM25 + Dense RAG, LangGraph agent workflows, and automated RAGAS evaluation.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Month 2 (Days 31–60): Async PostgreSQL, MLflow model registry, ONNX Runtime serving, and Kubernetes deployments.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Month 3 (Days 61–90): Event-driven Kafka pipelines, AppSec hardening, and distributed system design.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779008"/>
            <a:ext cx="11064240" cy="777240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100" i="1">
                <a:solidFill>
                  <a:srgbClr val="64748B"/>
                </a:solidFill>
              </a:defRPr>
            </a:pPr>
            <a:r>
              <a:t>Speaker Cue: "To transition this prototype toward production, our roadmap prioritizes PostgreSQL persistence, calibration on real historical data, optical OCR integration, and RBAC security. Thank you—I welcome your questions."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